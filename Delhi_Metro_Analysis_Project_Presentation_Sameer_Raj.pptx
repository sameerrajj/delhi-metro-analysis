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0" r:id="rId21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DELHI METRO ANALYSIS</a:t>
            </a:r>
          </a:p>
          <a:p>
            <a:pPr>
              <a:defRPr sz="2200">
                <a:solidFill>
                  <a:srgbClr val="D2E1F0"/>
                </a:solidFill>
              </a:defRPr>
            </a:pPr>
            <a:r>
              <a:t>Data Analysis &amp; Power BI Dashboard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657600"/>
            <a:ext cx="5486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FC3D7"/>
                </a:solidFill>
              </a:defRPr>
            </a:pPr>
            <a:r>
              <a:t>Presented by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Sameer Raj</a:t>
            </a:r>
          </a:p>
          <a:p>
            <a:pPr>
              <a:defRPr sz="1400">
                <a:solidFill>
                  <a:srgbClr val="D2E1F0"/>
                </a:solidFill>
              </a:defRPr>
            </a:pPr>
            <a:r>
              <a:t>Data Analyst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End-to-end analysis using Python, Pandas and Power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Objective: analyze Delhi Metro passenger movement, fare, revenue and profitability patterns.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Dataset: 1,50,000 trip records covering 2022–2024.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Key fields: stations, distance, fare, cost per passenger, passengers, ticket type, remarks, year, month and day.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Workflow: data cleaning → exploratory analysis → DAX measures → interactive Power BI dashboard.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Focus: business-style insights rather than machine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828800"/>
            <a:ext cx="64008" cy="10972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38528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Records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1,50,000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15468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3154680"/>
            <a:ext cx="64008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3264408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Years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2022–2024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48056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480560"/>
            <a:ext cx="64008" cy="1097280"/>
          </a:xfrm>
          <a:prstGeom prst="rect">
            <a:avLst/>
          </a:prstGeom>
          <a:solidFill>
            <a:srgbClr val="1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4590288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Tools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Python + Power 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Data Loading &amp;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Initial inspection of the cleaned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PYTHON EDA</a:t>
            </a:r>
          </a:p>
        </p:txBody>
      </p:sp>
      <p:pic>
        <p:nvPicPr>
          <p:cNvPr id="7" name="Picture 6" descr="Screenshot (9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63152"/>
            <a:ext cx="5577839" cy="3137534"/>
          </a:xfrm>
          <a:prstGeom prst="rect">
            <a:avLst/>
          </a:prstGeom>
        </p:spPr>
      </p:pic>
      <p:pic>
        <p:nvPicPr>
          <p:cNvPr id="8" name="Picture 7" descr="Screenshot (9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8887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Data Cleaning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Missing-value treatment before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DATA QUALITY</a:t>
            </a:r>
          </a:p>
        </p:txBody>
      </p:sp>
      <p:pic>
        <p:nvPicPr>
          <p:cNvPr id="7" name="Picture 6" descr="Screenshot (9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0257"/>
            <a:ext cx="6492239" cy="36518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82880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</a:defRPr>
            </a:pPr>
            <a:r>
              <a:t>• Passengers: 1,500 missing values filled using the column mean.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</a:defRPr>
            </a:pPr>
            <a:r>
              <a:t>• Ticket Type: 1,500 missing values filled using the mode.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</a:defRPr>
            </a:pPr>
            <a:r>
              <a:t>• Remarks: 26,257 missing values filled using the mode.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</a:defRPr>
            </a:pPr>
            <a:r>
              <a:t>• Date removed after deriving Year, Month and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Ticket 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Composition of ticket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EDA INSIGHT</a:t>
            </a:r>
          </a:p>
        </p:txBody>
      </p:sp>
      <p:pic>
        <p:nvPicPr>
          <p:cNvPr id="7" name="Picture 6" descr="Screenshot (9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7387"/>
            <a:ext cx="6858000" cy="38576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7830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783080"/>
            <a:ext cx="64008" cy="9601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1892807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Tourist Card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60,693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260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926080"/>
            <a:ext cx="64008" cy="9601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3035808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Single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37,341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0690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4069080"/>
            <a:ext cx="64008" cy="960120"/>
          </a:xfrm>
          <a:prstGeom prst="rect">
            <a:avLst/>
          </a:prstGeom>
          <a:solidFill>
            <a:srgbClr val="1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4178808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Smart Card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37,244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52120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5212080"/>
            <a:ext cx="64008" cy="9601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5321808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Return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14,722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Passenger Trends by Day, Month &amp;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Time-based aggregation from the cleaned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TIME ANALYSIS</a:t>
            </a:r>
          </a:p>
        </p:txBody>
      </p:sp>
      <p:pic>
        <p:nvPicPr>
          <p:cNvPr id="7" name="Picture 6" descr="Screenshot (9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98921"/>
            <a:ext cx="3703320" cy="2083117"/>
          </a:xfrm>
          <a:prstGeom prst="rect">
            <a:avLst/>
          </a:prstGeom>
        </p:spPr>
      </p:pic>
      <p:pic>
        <p:nvPicPr>
          <p:cNvPr id="8" name="Picture 7" descr="Screenshot (9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2798921"/>
            <a:ext cx="3703320" cy="2083117"/>
          </a:xfrm>
          <a:prstGeom prst="rect">
            <a:avLst/>
          </a:prstGeom>
        </p:spPr>
      </p:pic>
      <p:pic>
        <p:nvPicPr>
          <p:cNvPr id="9" name="Picture 8" descr="Screenshot (10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798921"/>
            <a:ext cx="3703320" cy="20831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Station-Level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High-volume origin and destination stations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STATION ANALYSIS</a:t>
            </a:r>
          </a:p>
        </p:txBody>
      </p:sp>
      <p:pic>
        <p:nvPicPr>
          <p:cNvPr id="7" name="Picture 6" descr="Screenshot (1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98921"/>
            <a:ext cx="3703320" cy="2083117"/>
          </a:xfrm>
          <a:prstGeom prst="rect">
            <a:avLst/>
          </a:prstGeom>
        </p:spPr>
      </p:pic>
      <p:pic>
        <p:nvPicPr>
          <p:cNvPr id="8" name="Picture 7" descr="Screenshot (1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2798921"/>
            <a:ext cx="3703320" cy="2083117"/>
          </a:xfrm>
          <a:prstGeom prst="rect">
            <a:avLst/>
          </a:prstGeom>
        </p:spPr>
      </p:pic>
      <p:pic>
        <p:nvPicPr>
          <p:cNvPr id="9" name="Picture 8" descr="Screenshot (10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798921"/>
            <a:ext cx="3703320" cy="20831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Operational Context: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Passenger volume segmented by operating condition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pic>
        <p:nvPicPr>
          <p:cNvPr id="7" name="Picture 6" descr="Screenshot (10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03170"/>
            <a:ext cx="4754880" cy="2674620"/>
          </a:xfrm>
          <a:prstGeom prst="rect">
            <a:avLst/>
          </a:prstGeom>
        </p:spPr>
      </p:pic>
      <p:pic>
        <p:nvPicPr>
          <p:cNvPr id="8" name="Picture 7" descr="Screenshot (10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17407"/>
            <a:ext cx="6126480" cy="3446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Fare &amp; Trip-Level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Fields used for revenue and profit calculations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BUSINESS METRICS</a:t>
            </a:r>
          </a:p>
        </p:txBody>
      </p:sp>
      <p:pic>
        <p:nvPicPr>
          <p:cNvPr id="7" name="Picture 6" descr="Screenshot (1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3102"/>
            <a:ext cx="6675120" cy="37547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8288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Fare is treated as a per-passenger fare.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Cost_per_passenger is treated as a per-passenger operating cost.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Revenue = Fare × Passengers.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Profit = (Fare − Cost per Passenger) × Passengers.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Power BI Dashboard &amp; KPI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Business calculations moved into DAX for interactive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Total Passengers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40,00,000+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69164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69164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1" y="180136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Total Revenue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₹43,51,60,000+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9164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1691640"/>
            <a:ext cx="64008" cy="1188720"/>
          </a:xfrm>
          <a:prstGeom prst="rect">
            <a:avLst/>
          </a:prstGeom>
          <a:solidFill>
            <a:srgbClr val="1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80136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Total Profit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₹19,04,60,000+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4612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3558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Total Trips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1,50,000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24612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24612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1" y="33558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Avg Fare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₹105.12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246120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324612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33558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Avg Distance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5.49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Interactive slicers: Year, Month, Day, Ticket Type, From Station and To Station.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Visuals: passenger trends, ticket-type distribution, top routes by passengers and revenue.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DAX measures keep business logic dynamic under filter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Executive overview for portfolio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09728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10972800" cy="502920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DELHI METRO ANALYSIS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40280"/>
            <a:ext cx="14173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1430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291C"/>
                </a:solidFill>
              </a:defRPr>
            </a:pPr>
            <a:r>
              <a:t>FILTERS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Year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Month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Day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Ticket Type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From Station</a:t>
            </a:r>
          </a:p>
          <a:p>
            <a:pPr>
              <a:spcAft>
                <a:spcPts val="900"/>
              </a:spcAft>
              <a:defRPr sz="900">
                <a:solidFill>
                  <a:srgbClr val="232D37"/>
                </a:solidFill>
              </a:defRPr>
            </a:pPr>
            <a:r>
              <a:t>To 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2402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2240280"/>
            <a:ext cx="64008" cy="9601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2350008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Passengers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40L+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2402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2240280"/>
            <a:ext cx="64008" cy="960120"/>
          </a:xfrm>
          <a:prstGeom prst="rect">
            <a:avLst/>
          </a:prstGeom>
          <a:solidFill>
            <a:srgbClr val="1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350008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Revenue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₹43.5Cr+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79" y="22402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79" y="2240280"/>
            <a:ext cx="64008" cy="9601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1" y="2350008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Profit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₹19.0Cr+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2402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2240280"/>
            <a:ext cx="64008" cy="9601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350008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Trips</a:t>
            </a:r>
          </a:p>
          <a:p>
            <a:pPr>
              <a:defRPr sz="2100" b="1">
                <a:solidFill>
                  <a:srgbClr val="082341"/>
                </a:solidFill>
              </a:defRPr>
            </a:pPr>
            <a:r>
              <a:t>1.5L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34290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520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2341"/>
                </a:solidFill>
              </a:defRPr>
            </a:pPr>
            <a:r>
              <a:t>Passengers by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34290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3520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2341"/>
                </a:solidFill>
              </a:defRPr>
            </a:pPr>
            <a:r>
              <a:t>Passengers by Month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34290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19" y="3520440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2341"/>
                </a:solidFill>
              </a:defRPr>
            </a:pPr>
            <a:r>
              <a:t>Ticket 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800600"/>
            <a:ext cx="4160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4892040"/>
            <a:ext cx="3977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2341"/>
                </a:solidFill>
              </a:defRPr>
            </a:pPr>
            <a:r>
              <a:t>Top 10 Routes by Passengers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800600"/>
            <a:ext cx="4206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89204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2341"/>
                </a:solidFill>
              </a:defRPr>
            </a:pPr>
            <a:r>
              <a:t>Top 10 Routes by Revenue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Delhi Metro Network Map – Next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Station coordinates can extend the dashboard into geospatial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GEOSPATIAL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Add Station, Latitude, Longitude and Metro Line as a station reference table.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Plot stations using Latitude + Longitude in Power BI.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Bubble size can represent passenger volume; tooltips can show passengers, revenue and station details.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t>• Keep this as a dedicated second page after the executive dashboard.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06640" y="1920240"/>
            <a:ext cx="1005840" cy="54864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412480" y="1920240"/>
            <a:ext cx="822960" cy="54864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1920240"/>
            <a:ext cx="822960" cy="73152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03919" y="2651760"/>
            <a:ext cx="1554481" cy="91440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89519" y="3566160"/>
            <a:ext cx="914400" cy="731519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19" y="4297679"/>
            <a:ext cx="2194561" cy="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784080" y="3566160"/>
            <a:ext cx="731520" cy="731519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200" y="182880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37744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182880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256032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347472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79" y="420624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0" y="420624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0" y="3474720"/>
            <a:ext cx="274320" cy="274320"/>
          </a:xfrm>
          <a:prstGeom prst="ellipse">
            <a:avLst/>
          </a:prstGeom>
          <a:solidFill>
            <a:srgbClr val="DA291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93776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82341"/>
                </a:solidFill>
              </a:defRPr>
            </a:pPr>
            <a:r>
              <a:t>Station → Latitude → Longitude → Line → Passenger Volume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341"/>
                </a:solidFill>
                <a:latin typeface="Aptos Display"/>
              </a:defRPr>
            </a:pPr>
            <a:r>
              <a:t>Key Insights &amp;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What the analysis enables a decision-maker to investigate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25296"/>
            <a:ext cx="196596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Year, month and day aggregations support demand-pattern comparison.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Ticket-type mix highlights Tourist Card as the largest ticket category in the cleaned dataset.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Station analysis identifies high-volume origin and destination points for capacity planning.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Remarks enable comparison across peak, off-peak, festival, weekend and maintenance conditions.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Route-level passenger and revenue rankings provide a stronger business view than station counts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Delhi Metro Analysis • Sameer Raj • Data Analyst Portfolio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• Built an end-to-end Delhi Metro analytics project from trip data to an interactive Power BI dashboard.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• Applied data cleaning, exploratory analysis, aggregation and business-focused DAX calculations.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• Converted 1,50,000 trip records into passenger, revenue, profit, route and ticket insights.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• Next enhancement: integrate station latitude/longitude for a geospatial network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DE1"/>
                </a:solidFill>
              </a:defRPr>
            </a:pPr>
            <a:r>
              <a:t>Sameer Raj  |  Data Analyst Portfolio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3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pic>
        <p:nvPicPr>
          <p:cNvPr id="4" name="Picture 3" descr="image(20261003-23014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48872" cy="6153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06831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ptos"/>
              </a:defRPr>
            </a:pPr>
            <a:r>
              <a:t>Interactive dashboard developed using Power BI | Delhi Metro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